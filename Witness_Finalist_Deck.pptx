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Witness. Two students, one deployed system. The claim is narrow and testable: the machine may propose, an independent check may refuse, and only a named person may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failure modes, both common. An autonomous scorer puts the cost of error on the applicant; a cosmetic reviewer gives the appearance of oversight without the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state is a closed set. Verified and Needs review are both pre-decision. Denied is only produced by an explicit officer action, which is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of the six steps are automated. The sixth is a person, and it is the only one that can end a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Grounding is not a prompt instruction, it is a check. The quotation is compared to the document text, and a mismatch removes the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opposite of a confident chatbot. In the seeded set, 60 percent of cases abstain for exactly these reasons, and all of them reach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backend validates the actor, the action, the reason and the case state. A decision cannot be written without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verifying chain proves integrity, not durability. The interface says which one it is instead of implying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here is from the running service, not a slide. The gate is the reason we can claim reliability: it is checked, not asserted.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per brand guide: Clouds by Alternate Futures on first mention, then Clouds. The limits are on the slide because a judge will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first, then the honest roadmap. Everything in the middle column exists today and can be shown in the live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rule, not on a feature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 rot="720000">
            <a:off x="10104120" y="777240"/>
            <a:ext cx="310896" cy="310896"/>
          </a:xfrm>
          <a:prstGeom prst="star4">
            <a:avLst/>
          </a:prstGeom>
          <a:solidFill>
            <a:alpha val="5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 rot="1440000">
            <a:off x="11018520" y="1572768"/>
            <a:ext cx="146304" cy="146304"/>
          </a:xfrm>
          <a:prstGeom prst="star4">
            <a:avLst/>
          </a:prstGeom>
          <a:solidFill>
            <a:alpha val="3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 rot="21120000">
            <a:off x="10625328" y="2395728"/>
            <a:ext cx="219456" cy="219456"/>
          </a:xfrm>
          <a:prstGeom prst="star4">
            <a:avLst/>
          </a:prstGeom>
          <a:solidFill>
            <a:alpha val="3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11356848" y="3703320"/>
            <a:ext cx="118872" cy="118872"/>
          </a:xfrm>
          <a:prstGeom prst="star4">
            <a:avLst/>
          </a:prstGeom>
          <a:solidFill>
            <a:alpha val="2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4-Point Star 6"/>
          <p:cNvSpPr/>
          <p:nvPr/>
        </p:nvSpPr>
        <p:spPr>
          <a:xfrm rot="960000">
            <a:off x="9802368" y="4956048"/>
            <a:ext cx="182880" cy="182880"/>
          </a:xfrm>
          <a:prstGeom prst="star4">
            <a:avLst/>
          </a:prstGeom>
          <a:solidFill>
            <a:alpha val="2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14432" y="5138928"/>
            <a:ext cx="3017520" cy="3017520"/>
          </a:xfrm>
          <a:prstGeom prst="ellipse">
            <a:avLst/>
          </a:prstGeom>
          <a:noFill/>
          <a:ln w="17780">
            <a:solidFill>
              <a:srgbClr val="FFC7A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FFC7AA"/>
                </a:solidFill>
                <a:latin typeface="JetBrains Mono"/>
              </a:rPr>
              <a:t>AGENTIKA 2.0  ·  NASCON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7863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0" b="1" i="0">
                <a:solidFill>
                  <a:srgbClr val="F9F5EE"/>
                </a:solidFill>
                <a:latin typeface="Instrument Sans"/>
              </a:rPr>
              <a:t>Witness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1">
                <a:solidFill>
                  <a:srgbClr val="FFC7AA"/>
                </a:solidFill>
                <a:latin typeface="Instrument Serif"/>
              </a:rPr>
              <a:t>AI proposes. A check audits. A human decides.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24528"/>
            <a:ext cx="1371600" cy="254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62272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E8E4F7"/>
                </a:solidFill>
                <a:latin typeface="Instrument Sans"/>
              </a:rPr>
              <a:t>A decision desk for high-stakes eligibility screening,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E8E4F7"/>
                </a:solidFill>
                <a:latin typeface="Instrument Sans"/>
              </a:rPr>
              <a:t>where the automated pipeline has no way to deny an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424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9F5EE"/>
                </a:solidFill>
                <a:latin typeface="JetBrains Mono"/>
              </a:rPr>
              <a:t>Glue Sticks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9846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FCBF0"/>
                </a:solidFill>
                <a:latin typeface="JetBrains Mono"/>
              </a:rPr>
              <a:t>Aryan Zia  ·  Muhammad Rubait Zakria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7424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B9B4EE"/>
                </a:solidFill>
                <a:latin typeface="JetBrains Mono"/>
              </a:rPr>
              <a:t>witness  ·  live on Clouds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0000AF"/>
                </a:solidFill>
                <a:latin typeface="Instrument Sans"/>
              </a:rPr>
              <a:t>A denial has no owner.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95728"/>
            <a:ext cx="50292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6334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AFF"/>
                </a:solidFill>
                <a:latin typeface="JetBrains Mono"/>
              </a:rPr>
              <a:t>01   The autonomous scorer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999232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1A1A1A"/>
                </a:solidFill>
                <a:latin typeface="Instrument Sans"/>
              </a:rPr>
              <a:t>A model issues approve or deny. It is fast, but a refusal has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1A1A1A"/>
                </a:solidFill>
                <a:latin typeface="Instrument Sans"/>
              </a:rPr>
              <a:t>no reviewable basis and nobody accountable for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2395728"/>
            <a:ext cx="50292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26334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AFF"/>
                </a:solidFill>
                <a:latin typeface="JetBrains Mono"/>
              </a:rPr>
              <a:t>02   The cosmetic reviewer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999232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1A1A1A"/>
                </a:solidFill>
                <a:latin typeface="Instrument Sans"/>
              </a:rPr>
              <a:t>A person clicks confirm on whatever the model produced.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1A1A1A"/>
                </a:solidFill>
                <a:latin typeface="Instrument Sans"/>
              </a:rPr>
              <a:t>The human step exists on the diagram but holds no authority.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28032"/>
            <a:ext cx="1005840" cy="38100"/>
          </a:xfrm>
          <a:prstGeom prst="rect">
            <a:avLst/>
          </a:prstGeom>
          <a:solidFill>
            <a:srgbClr val="BE4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1091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Instrument Sans"/>
              </a:rPr>
              <a:t>In benefits screening the cost of error is asymmetric. A wrongly refused applicant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Instrument Sans"/>
              </a:rPr>
              <a:t>loses support, and an automated refusal is the hardest kind to contest.</a:t>
            </a:r>
          </a:p>
        </p:txBody>
      </p:sp>
      <p:sp>
        <p:nvSpPr>
          <p:cNvPr id="13" name="4-Point Star 12"/>
          <p:cNvSpPr/>
          <p:nvPr/>
        </p:nvSpPr>
        <p:spPr>
          <a:xfrm rot="1200000">
            <a:off x="10881360" y="5532120"/>
            <a:ext cx="164592" cy="164592"/>
          </a:xfrm>
          <a:prstGeom prst="star4">
            <a:avLst/>
          </a:prstGeom>
          <a:solidFill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4-Point Star 13"/>
          <p:cNvSpPr/>
          <p:nvPr/>
        </p:nvSpPr>
        <p:spPr>
          <a:xfrm>
            <a:off x="11430000" y="5870448"/>
            <a:ext cx="100584" cy="100584"/>
          </a:xfrm>
          <a:prstGeom prst="star4">
            <a:avLst/>
          </a:prstGeom>
          <a:solidFill>
            <a:alpha val="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THE DESIGN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i="0">
                <a:solidFill>
                  <a:srgbClr val="0000AF"/>
                </a:solidFill>
                <a:latin typeface="Instrument Sans"/>
              </a:rPr>
              <a:t>The human is a stage, not a reviewer.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783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6060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Instrument Sans"/>
              </a:rPr>
              <a:t>Received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889504"/>
            <a:ext cx="1527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65C"/>
                </a:solidFill>
                <a:latin typeface="JetBrains Mono"/>
              </a:rPr>
              <a:t>Case packet read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79191" y="2752344"/>
            <a:ext cx="256032" cy="173736"/>
          </a:xfrm>
          <a:prstGeom prst="rightArrow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2487168"/>
            <a:ext cx="1783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26060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Instrument Sans"/>
              </a:rPr>
              <a:t>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2889504"/>
            <a:ext cx="1527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65C"/>
                </a:solidFill>
                <a:latin typeface="JetBrains Mono"/>
              </a:rPr>
              <a:t>Every clause met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10912" y="2752344"/>
            <a:ext cx="256032" cy="173736"/>
          </a:xfrm>
          <a:prstGeom prst="rightArrow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79" y="2487168"/>
            <a:ext cx="1783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3" y="26060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Instrument Sans"/>
              </a:rPr>
              <a:t>Needs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3" y="2889504"/>
            <a:ext cx="1527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65C"/>
                </a:solidFill>
                <a:latin typeface="JetBrains Mono"/>
              </a:rPr>
              <a:t>Doubt or failure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42631" y="2752344"/>
            <a:ext cx="256032" cy="173736"/>
          </a:xfrm>
          <a:prstGeom prst="rightArrow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487168"/>
            <a:ext cx="1783080" cy="713232"/>
          </a:xfrm>
          <a:prstGeom prst="roundRect">
            <a:avLst>
              <a:gd name="adj" fmla="val 6000"/>
            </a:avLst>
          </a:prstGeom>
          <a:solidFill>
            <a:srgbClr val="000AFF"/>
          </a:solidFill>
          <a:ln w="9525">
            <a:solidFill>
              <a:srgbClr val="000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26060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Instrument Sans"/>
              </a:rPr>
              <a:t>Officer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2889504"/>
            <a:ext cx="1527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DDE0FF"/>
                </a:solidFill>
                <a:latin typeface="JetBrains Mono"/>
              </a:rPr>
              <a:t>Named, with a 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346704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A7469"/>
                </a:solidFill>
                <a:latin typeface="JetBrains Mono"/>
              </a:rPr>
              <a:t>Outcomes of the officer stage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621024"/>
            <a:ext cx="169164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68503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AFF"/>
                </a:solidFill>
                <a:latin typeface="Instrument Sans"/>
              </a:rPr>
              <a:t>Approved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621024"/>
            <a:ext cx="169164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8503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BE4200"/>
                </a:solidFill>
                <a:latin typeface="Instrument Sans"/>
              </a:rPr>
              <a:t>Denied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3621024"/>
            <a:ext cx="169164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3224" y="368503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AFF"/>
                </a:solidFill>
                <a:latin typeface="Instrument Sans"/>
              </a:rPr>
              <a:t>Info requested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315968"/>
            <a:ext cx="10607040" cy="1170432"/>
          </a:xfrm>
          <a:prstGeom prst="roundRect">
            <a:avLst>
              <a:gd name="adj" fmla="val 6000"/>
            </a:avLst>
          </a:prstGeom>
          <a:solidFill>
            <a:srgbClr val="C8E0E4"/>
          </a:solidFill>
          <a:ln w="9525">
            <a:solidFill>
              <a:srgbClr val="A9C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53542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000AF"/>
                </a:solidFill>
                <a:latin typeface="Instrument Sans"/>
              </a:rPr>
              <a:t>No code path in the automated pipeline writes Approved or Denied.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1947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2A4A52"/>
                </a:solidFill>
                <a:latin typeface="Instrument Sans"/>
              </a:rPr>
              <a:t>The lowest state the pipeline can reach is Needs review. A final decision exists only as a recorded human act.</a:t>
            </a:r>
          </a:p>
        </p:txBody>
      </p:sp>
      <p:sp>
        <p:nvSpPr>
          <p:cNvPr id="30" name="4-Point Star 29"/>
          <p:cNvSpPr/>
          <p:nvPr/>
        </p:nvSpPr>
        <p:spPr>
          <a:xfrm rot="1080000">
            <a:off x="11109960" y="932688"/>
            <a:ext cx="146304" cy="146304"/>
          </a:xfrm>
          <a:prstGeom prst="star4">
            <a:avLst/>
          </a:prstGeom>
          <a:solidFill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4-Point Star 30"/>
          <p:cNvSpPr/>
          <p:nvPr/>
        </p:nvSpPr>
        <p:spPr>
          <a:xfrm>
            <a:off x="11475720" y="1371600"/>
            <a:ext cx="91440" cy="91440"/>
          </a:xfrm>
          <a:prstGeom prst="star4">
            <a:avLst/>
          </a:prstGeom>
          <a:solidFill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HOW A CASE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0000AF"/>
                </a:solidFill>
                <a:latin typeface="Instrument Sans"/>
              </a:rPr>
              <a:t>Six steps, one of which is a person.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5727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AFF"/>
                </a:solidFill>
                <a:latin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07208"/>
            <a:ext cx="12070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000AF"/>
                </a:solidFill>
                <a:latin typeface="Instrument Sans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64408"/>
            <a:ext cx="12252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PDF or text becomes citable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1176" y="2331720"/>
            <a:ext cx="15727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2514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AFF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807208"/>
            <a:ext cx="12070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000AF"/>
                </a:solidFill>
                <a:latin typeface="Instrument Sans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3264408"/>
            <a:ext cx="12252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A model proposes values with quotations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331720"/>
            <a:ext cx="15727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514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AFF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807208"/>
            <a:ext cx="12070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000AF"/>
                </a:solidFill>
                <a:latin typeface="Instrument Sans"/>
              </a:rPr>
              <a:t>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264408"/>
            <a:ext cx="12252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Each quotation is checked verbatim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2331720"/>
            <a:ext cx="15727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514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AFF"/>
                </a:solidFill>
                <a:latin typeface="JetBrain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807208"/>
            <a:ext cx="12070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000AF"/>
                </a:solidFill>
                <a:latin typeface="Instrument Sans"/>
              </a:rPr>
              <a:t>Clauses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264408"/>
            <a:ext cx="12252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Seven rules evaluated in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72983" y="2331720"/>
            <a:ext cx="15727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863" y="2514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00AFF"/>
                </a:solidFill>
                <a:latin typeface="JetBrains Mon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3" y="2807208"/>
            <a:ext cx="12070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000AF"/>
                </a:solidFill>
                <a:latin typeface="Instrument San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3" y="3264408"/>
            <a:ext cx="12252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An independent check may abstain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19" y="2331720"/>
            <a:ext cx="1572768" cy="2331720"/>
          </a:xfrm>
          <a:prstGeom prst="roundRect">
            <a:avLst>
              <a:gd name="adj" fmla="val 6000"/>
            </a:avLst>
          </a:prstGeom>
          <a:solidFill>
            <a:srgbClr val="000AFF"/>
          </a:solidFill>
          <a:ln w="9525">
            <a:solidFill>
              <a:srgbClr val="000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799" y="2514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C7AA"/>
                </a:solidFill>
                <a:latin typeface="JetBrains Mono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799" y="2807208"/>
            <a:ext cx="12070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strument Sans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799" y="3264408"/>
            <a:ext cx="12252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DFE2FF"/>
                </a:solidFill>
                <a:latin typeface="Instrument Sans"/>
              </a:rPr>
              <a:t>An officer records the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Instrument Sans"/>
              </a:rPr>
              <a:t>The model may add caution. It cannot remove it: an abstention is always allowed, a failed clause is never cleared.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882896"/>
            <a:ext cx="914400" cy="38100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4-Point Star 30"/>
          <p:cNvSpPr/>
          <p:nvPr/>
        </p:nvSpPr>
        <p:spPr>
          <a:xfrm rot="720000">
            <a:off x="10927080" y="5650992"/>
            <a:ext cx="128016" cy="128016"/>
          </a:xfrm>
          <a:prstGeom prst="star4">
            <a:avLst/>
          </a:prstGeom>
          <a:solidFill>
            <a:alpha val="1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4-Point Star 31"/>
          <p:cNvSpPr/>
          <p:nvPr/>
        </p:nvSpPr>
        <p:spPr>
          <a:xfrm>
            <a:off x="11384280" y="5943600"/>
            <a:ext cx="82296" cy="82296"/>
          </a:xfrm>
          <a:prstGeom prst="star4">
            <a:avLst/>
          </a:prstGeom>
          <a:solidFill>
            <a:alpha val="2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GROUNDED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0000AF"/>
                </a:solidFill>
                <a:latin typeface="Instrument Sans"/>
              </a:rPr>
              <a:t>Every value carries the sentence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93392"/>
            <a:ext cx="4343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3A362F"/>
                </a:solidFill>
                <a:latin typeface="Instrument Sans"/>
              </a:rPr>
              <a:t>The extractor returns a value and an exact quotation. Witness re-reads the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3A362F"/>
                </a:solidFill>
                <a:latin typeface="Instrument Sans"/>
              </a:rPr>
              <a:t>quotation against the source document before the value is used.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246120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3163824"/>
            <a:ext cx="40599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A value without a verbatim quotation is not grounded.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904487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3822191"/>
            <a:ext cx="40599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Clicking a source opens the document and highlights the span.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562856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4480560"/>
            <a:ext cx="40599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An invented quotation produces no citation.</a:t>
            </a:r>
          </a:p>
        </p:txBody>
      </p:sp>
      <p:pic>
        <p:nvPicPr>
          <p:cNvPr id="12" name="Picture 11" descr="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75104"/>
            <a:ext cx="5989320" cy="3410585"/>
          </a:xfrm>
          <a:prstGeom prst="rect">
            <a:avLst/>
          </a:prstGeom>
          <a:ln w="9525">
            <a:solidFill>
              <a:srgbClr val="C9C2B6"/>
            </a:solidFill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413248" y="54681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A7469"/>
                </a:solidFill>
                <a:latin typeface="JetBrains Mono"/>
              </a:rPr>
              <a:t>Evidence tab, case 2026-0001: value, quotation, source, grounding</a:t>
            </a:r>
          </a:p>
        </p:txBody>
      </p:sp>
      <p:sp>
        <p:nvSpPr>
          <p:cNvPr id="14" name="4-Point Star 13"/>
          <p:cNvSpPr/>
          <p:nvPr/>
        </p:nvSpPr>
        <p:spPr>
          <a:xfrm rot="480000">
            <a:off x="566928" y="5760720"/>
            <a:ext cx="118872" cy="118872"/>
          </a:xfrm>
          <a:prstGeom prst="star4">
            <a:avLst/>
          </a:prstGeom>
          <a:solidFill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ABSTENTION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200" b="1" i="0">
                <a:solidFill>
                  <a:srgbClr val="0000AF"/>
                </a:solidFill>
                <a:latin typeface="Instrument Sans"/>
              </a:rPr>
              <a:t>The verifier is allowed to refuse.</a:t>
            </a:r>
          </a:p>
        </p:txBody>
      </p:sp>
      <p:pic>
        <p:nvPicPr>
          <p:cNvPr id="5" name="Picture 4" descr="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011680"/>
            <a:ext cx="5989320" cy="3244215"/>
          </a:xfrm>
          <a:prstGeom prst="rect">
            <a:avLst/>
          </a:prstGeom>
          <a:ln w="9525">
            <a:solidFill>
              <a:srgbClr val="C9C2B6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413248" y="53583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A7469"/>
                </a:solidFill>
                <a:latin typeface="JetBrains Mono"/>
              </a:rPr>
              <a:t>Case 2026-0003: two income figures, both quoted, state stays Needs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000AF"/>
                </a:solidFill>
                <a:latin typeface="Instrument Sans"/>
              </a:rPr>
              <a:t>Three conditions force an abstention: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69464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487168"/>
            <a:ext cx="41513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Quoted text does not appear in the source.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72968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0672"/>
            <a:ext cx="41513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The same field holds conflicting values.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76472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3694176"/>
            <a:ext cx="41513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A clause cannot be decided from the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43984"/>
            <a:ext cx="4315968" cy="1060704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 w="9525">
            <a:solidFill>
              <a:srgbClr val="E3B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626864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BE4200"/>
                </a:solidFill>
                <a:latin typeface="Instrument Sans"/>
              </a:rPr>
              <a:t>An abstention is a success, not a failure: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BE4200"/>
                </a:solidFill>
                <a:latin typeface="Instrument Sans"/>
              </a:rPr>
              <a:t>the case reaches the person who can resolve it.</a:t>
            </a:r>
          </a:p>
        </p:txBody>
      </p:sp>
      <p:sp>
        <p:nvSpPr>
          <p:cNvPr id="16" name="4-Point Star 15"/>
          <p:cNvSpPr/>
          <p:nvPr/>
        </p:nvSpPr>
        <p:spPr>
          <a:xfrm>
            <a:off x="11430000" y="5870448"/>
            <a:ext cx="91440" cy="91440"/>
          </a:xfrm>
          <a:prstGeom prst="star4">
            <a:avLst/>
          </a:prstGeom>
          <a:solidFill>
            <a:alpha val="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FFC7AA"/>
                </a:solidFill>
                <a:latin typeface="JetBrains Mono"/>
              </a:rPr>
              <a:t>THE DECISION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600" b="1" i="0">
                <a:solidFill>
                  <a:srgbClr val="F9F5EE"/>
                </a:solidFill>
                <a:latin typeface="Instrument Sans"/>
              </a:rPr>
              <a:t>The officer's decision is enforced by the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C9C6F2"/>
                </a:solidFill>
                <a:latin typeface="Instrument Sans"/>
              </a:rPr>
              <a:t>The interface is not the safeguard. The rules live in the service.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569464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487168"/>
            <a:ext cx="479145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F9F5EE"/>
                </a:solidFill>
                <a:latin typeface="Instrument Sans"/>
              </a:rPr>
              <a:t>An officer name is required.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319272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3236976"/>
            <a:ext cx="479145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F9F5EE"/>
                </a:solidFill>
                <a:latin typeface="Instrument Sans"/>
              </a:rPr>
              <a:t>A written reason is required, and retained.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069080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986784"/>
            <a:ext cx="479145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F9F5EE"/>
                </a:solidFill>
                <a:latin typeface="Instrument Sans"/>
              </a:rPr>
              <a:t>Invalid or duplicate decisions are rejected.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818888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4736592"/>
            <a:ext cx="479145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F9F5EE"/>
                </a:solidFill>
                <a:latin typeface="Instrument Sans"/>
              </a:rPr>
              <a:t>If the ledger cannot be written, the request fails and the case is unchanged.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83664"/>
            <a:ext cx="2240280" cy="3401568"/>
          </a:xfrm>
          <a:prstGeom prst="roundRect">
            <a:avLst>
              <a:gd name="adj" fmla="val 6000"/>
            </a:avLst>
          </a:prstGeom>
          <a:solidFill>
            <a:srgbClr val="F9F5EE"/>
          </a:solidFill>
          <a:ln w="9525">
            <a:solidFill>
              <a:srgbClr val="3A3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75104"/>
            <a:ext cx="1821565" cy="32186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B7B2EA"/>
                </a:solidFill>
                <a:latin typeface="JetBrains Mono"/>
              </a:rPr>
              <a:t>Officer panel: action, name, written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774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1">
                <a:solidFill>
                  <a:srgbClr val="FFC7AA"/>
                </a:solidFill>
                <a:latin typeface="Instrument Serif"/>
              </a:rPr>
              <a:t>An override of an abstention is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1">
                <a:solidFill>
                  <a:srgbClr val="FFC7AA"/>
                </a:solidFill>
                <a:latin typeface="Instrument Serif"/>
              </a:rPr>
              <a:t>recorded explicitly, not silently.</a:t>
            </a:r>
          </a:p>
        </p:txBody>
      </p:sp>
      <p:sp>
        <p:nvSpPr>
          <p:cNvPr id="18" name="4-Point Star 17"/>
          <p:cNvSpPr/>
          <p:nvPr/>
        </p:nvSpPr>
        <p:spPr>
          <a:xfrm rot="840000">
            <a:off x="10607040" y="4160520"/>
            <a:ext cx="182880" cy="182880"/>
          </a:xfrm>
          <a:prstGeom prst="star4">
            <a:avLst/>
          </a:prstGeom>
          <a:solidFill>
            <a:alpha val="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4-Point Star 18"/>
          <p:cNvSpPr/>
          <p:nvPr/>
        </p:nvSpPr>
        <p:spPr>
          <a:xfrm>
            <a:off x="11292840" y="4572000"/>
            <a:ext cx="109728" cy="109728"/>
          </a:xfrm>
          <a:prstGeom prst="star4">
            <a:avLst/>
          </a:prstGeom>
          <a:solidFill>
            <a:alpha val="2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0" y="3108960"/>
            <a:ext cx="2011680" cy="2011680"/>
          </a:xfrm>
          <a:prstGeom prst="ellipse">
            <a:avLst/>
          </a:prstGeom>
          <a:noFill/>
          <a:ln w="15240">
            <a:solidFill>
              <a:srgbClr val="FFC7AA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E8ED8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E8ED8"/>
                </a:solidFill>
                <a:latin typeface="JetBrains Mono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444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200" b="1" i="0">
                <a:solidFill>
                  <a:srgbClr val="0000AF"/>
                </a:solidFill>
                <a:latin typeface="Instrument Sans"/>
              </a:rPr>
              <a:t>Every decision is hash-chained.</a:t>
            </a:r>
          </a:p>
        </p:txBody>
      </p:sp>
      <p:pic>
        <p:nvPicPr>
          <p:cNvPr id="5" name="Picture 4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5943600" cy="3302000"/>
          </a:xfrm>
          <a:prstGeom prst="rect">
            <a:avLst/>
          </a:prstGeom>
          <a:ln w="9525">
            <a:solidFill>
              <a:srgbClr val="C9C2B6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77240" y="543153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A7469"/>
                </a:solidFill>
                <a:latin typeface="JetBrains Mono"/>
              </a:rPr>
              <a:t>Activity tab: append-only entries, verification and tamper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024" y="21031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Each entry stores the hash of the one before it.</a:t>
            </a:r>
          </a:p>
        </p:txBody>
      </p:sp>
      <p:sp>
        <p:nvSpPr>
          <p:cNvPr id="8" name="Oval 7"/>
          <p:cNvSpPr/>
          <p:nvPr/>
        </p:nvSpPr>
        <p:spPr>
          <a:xfrm>
            <a:off x="7050024" y="2880360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7768" y="2798064"/>
            <a:ext cx="3694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Verification recomputes the whole chain.</a:t>
            </a:r>
          </a:p>
        </p:txBody>
      </p:sp>
      <p:sp>
        <p:nvSpPr>
          <p:cNvPr id="10" name="Oval 9"/>
          <p:cNvSpPr/>
          <p:nvPr/>
        </p:nvSpPr>
        <p:spPr>
          <a:xfrm>
            <a:off x="7050024" y="3520439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7768" y="3438144"/>
            <a:ext cx="3694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A forged copy breaks at the changed entry.</a:t>
            </a:r>
          </a:p>
        </p:txBody>
      </p:sp>
      <p:sp>
        <p:nvSpPr>
          <p:cNvPr id="12" name="Oval 11"/>
          <p:cNvSpPr/>
          <p:nvPr/>
        </p:nvSpPr>
        <p:spPr>
          <a:xfrm>
            <a:off x="7050024" y="4160520"/>
            <a:ext cx="64008" cy="64008"/>
          </a:xfrm>
          <a:prstGeom prst="ellipse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4078224"/>
            <a:ext cx="3694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The real ledger is never modified by the demo.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0024" y="4846320"/>
            <a:ext cx="3931920" cy="841248"/>
          </a:xfrm>
          <a:prstGeom prst="roundRect">
            <a:avLst>
              <a:gd name="adj" fmla="val 6000"/>
            </a:avLst>
          </a:prstGeom>
          <a:solidFill>
            <a:srgbClr val="C8E0E4"/>
          </a:solidFill>
          <a:ln w="9525">
            <a:solidFill>
              <a:srgbClr val="A9C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3" y="50474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000AF"/>
                </a:solidFill>
                <a:latin typeface="Instrument Sans"/>
              </a:rPr>
              <a:t>Integrity is proven. Durability is stated, not implied.</a:t>
            </a:r>
          </a:p>
        </p:txBody>
      </p:sp>
      <p:sp>
        <p:nvSpPr>
          <p:cNvPr id="16" name="4-Point Star 15"/>
          <p:cNvSpPr/>
          <p:nvPr/>
        </p:nvSpPr>
        <p:spPr>
          <a:xfrm>
            <a:off x="11430000" y="5870448"/>
            <a:ext cx="100584" cy="100584"/>
          </a:xfrm>
          <a:prstGeom prst="star4">
            <a:avLst/>
          </a:prstGeom>
          <a:solidFill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0000AF"/>
                </a:solidFill>
                <a:latin typeface="Instrument Sans"/>
              </a:rPr>
              <a:t>The service checks itself before it serves.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87168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54203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00AFF"/>
                </a:solidFill>
                <a:latin typeface="Instrument Sans"/>
              </a:rPr>
              <a:t>55 / 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14553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Recorded expectations met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2331720"/>
            <a:ext cx="2487168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54203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00AFF"/>
                </a:solidFill>
                <a:latin typeface="Instrument Sans"/>
              </a:rPr>
              <a:t>97.1%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14553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Facts with a verbatim quotation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2331720"/>
            <a:ext cx="2487168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254203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00AFF"/>
                </a:solidFill>
                <a:latin typeface="Instrument Sans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5" y="314553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Cases escalated instead of guessed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42248" y="2331720"/>
            <a:ext cx="2487168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254203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00AFF"/>
                </a:solidFill>
                <a:latin typeface="Instrument Sans"/>
              </a:rPr>
              <a:t>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14553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No automatic denial, before a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2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Instrument Sans"/>
              </a:rPr>
              <a:t>The gate runs at start-up over a fixed case set. With the strict setting enabled,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Instrument Sans"/>
              </a:rPr>
              <a:t>a failing expectation stops the service from serving requests at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A7469"/>
                </a:solidFill>
                <a:latin typeface="JetBrains Mono"/>
              </a:rPr>
              <a:t>/api/eval  ·  17 October 2026  ·  version 0.5.0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0233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9F5EE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41879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000AF"/>
                </a:solidFill>
                <a:latin typeface="Instrument San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62686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policy clauses,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74E"/>
                </a:solidFill>
                <a:latin typeface="Instrument Sans"/>
              </a:rPr>
              <a:t>each traceable to a written rule</a:t>
            </a:r>
          </a:p>
        </p:txBody>
      </p:sp>
      <p:sp>
        <p:nvSpPr>
          <p:cNvPr id="22" name="4-Point Star 21"/>
          <p:cNvSpPr/>
          <p:nvPr/>
        </p:nvSpPr>
        <p:spPr>
          <a:xfrm rot="720000">
            <a:off x="11384280" y="1005840"/>
            <a:ext cx="137160" cy="137160"/>
          </a:xfrm>
          <a:prstGeom prst="star4">
            <a:avLst/>
          </a:prstGeom>
          <a:solidFill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09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0000AF"/>
                </a:solidFill>
                <a:latin typeface="Instrument Sans"/>
              </a:rPr>
              <a:t>Live on Clouds by Alternate Futures.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93392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One container, one port, one public URL. The model is a dependency with 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Instrument Sans"/>
              </a:rPr>
              <a:t>deterministic fallback, not a single point of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62656"/>
            <a:ext cx="68122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2004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000AFF"/>
                </a:solidFill>
                <a:latin typeface="JetBrains Mono"/>
              </a:rPr>
              <a:t>https://alternate-echo-whale-5578-github-app.alternatefutures.ai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54787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65C"/>
                </a:solidFill>
                <a:latin typeface="JetBrains Mono"/>
              </a:rPr>
              <a:t>status ok  ·  gate all_passed  ·  version 0.5.0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877056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65C"/>
                </a:solidFill>
                <a:latin typeface="JetBrains Mono"/>
              </a:rPr>
              <a:t>Deployed from a public repository on every commit, with the image tag equal to the commit.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36592"/>
            <a:ext cx="1645920" cy="896112"/>
          </a:xfrm>
          <a:prstGeom prst="roundRect">
            <a:avLst>
              <a:gd name="adj" fmla="val 6000"/>
            </a:avLst>
          </a:prstGeom>
          <a:solidFill>
            <a:srgbClr val="F2EEE4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4864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000AF"/>
                </a:solidFill>
                <a:latin typeface="Instrument Sans"/>
              </a:rPr>
              <a:t>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5120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665C"/>
                </a:solidFill>
                <a:latin typeface="JetBrains Mono"/>
              </a:rPr>
              <a:t>hash-routed console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1176" y="4736592"/>
            <a:ext cx="1645920" cy="896112"/>
          </a:xfrm>
          <a:prstGeom prst="roundRect">
            <a:avLst>
              <a:gd name="adj" fmla="val 6000"/>
            </a:avLst>
          </a:prstGeom>
          <a:solidFill>
            <a:srgbClr val="F2EEE4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4864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000AF"/>
                </a:solidFill>
                <a:latin typeface="Instrument Sans"/>
              </a:rPr>
              <a:t>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5120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665C"/>
                </a:solidFill>
                <a:latin typeface="JetBrains Mono"/>
              </a:rPr>
              <a:t>FastAPI · port 8000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4736592"/>
            <a:ext cx="1645920" cy="896112"/>
          </a:xfrm>
          <a:prstGeom prst="roundRect">
            <a:avLst>
              <a:gd name="adj" fmla="val 6000"/>
            </a:avLst>
          </a:prstGeom>
          <a:solidFill>
            <a:srgbClr val="F2EEE4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4864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000AF"/>
                </a:solidFill>
                <a:latin typeface="Instrument Sans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5120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665C"/>
                </a:solidFill>
                <a:latin typeface="JetBrains Mono"/>
              </a:rPr>
              <a:t>Groq, with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4736592"/>
            <a:ext cx="1645920" cy="896112"/>
          </a:xfrm>
          <a:prstGeom prst="roundRect">
            <a:avLst>
              <a:gd name="adj" fmla="val 6000"/>
            </a:avLst>
          </a:prstGeom>
          <a:solidFill>
            <a:srgbClr val="F2EEE4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4864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000AF"/>
                </a:solidFill>
                <a:latin typeface="Instrument Sans"/>
              </a:rPr>
              <a:t>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5120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665C"/>
                </a:solidFill>
                <a:latin typeface="JetBrains Mono"/>
              </a:rPr>
              <a:t>SQLite hash 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286000"/>
            <a:ext cx="3401568" cy="3346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11312" y="2505456"/>
            <a:ext cx="822960" cy="31750"/>
          </a:xfrm>
          <a:prstGeom prst="rect">
            <a:avLst/>
          </a:prstGeom>
          <a:solidFill>
            <a:srgbClr val="BE4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2651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E4200"/>
                </a:solidFill>
                <a:latin typeface="JetBrains Mono"/>
              </a:rPr>
              <a:t>Stated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0175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454038"/>
                </a:solidFill>
                <a:latin typeface="Instrument Sans"/>
              </a:rPr>
              <a:t>The ledger is local to the deployment: it survives a restart, not a redeploy.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858768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454038"/>
                </a:solidFill>
                <a:latin typeface="Instrument Sans"/>
              </a:rPr>
              <a:t>The policy is synthetic and inspired by social protection practice, not official.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4700016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454038"/>
                </a:solidFill>
                <a:latin typeface="Instrument Sans"/>
              </a:rPr>
              <a:t>Unfamiliar documents abstain rather than guess.</a:t>
            </a:r>
          </a:p>
        </p:txBody>
      </p:sp>
      <p:sp>
        <p:nvSpPr>
          <p:cNvPr id="28" name="4-Point Star 27"/>
          <p:cNvSpPr/>
          <p:nvPr/>
        </p:nvSpPr>
        <p:spPr>
          <a:xfrm rot="600000">
            <a:off x="11430000" y="1005840"/>
            <a:ext cx="109728" cy="109728"/>
          </a:xfrm>
          <a:prstGeom prst="star4">
            <a:avLst/>
          </a:prstGeom>
          <a:solidFill>
            <a:alpha val="1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000AFF"/>
                </a:solidFill>
                <a:latin typeface="JetBrains Mono"/>
              </a:rPr>
              <a:t>IMPACT AND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200" b="1" i="0">
                <a:solidFill>
                  <a:srgbClr val="0000AF"/>
                </a:solidFill>
                <a:latin typeface="Instrument Sans"/>
              </a:rPr>
              <a:t>Built for the decision, not the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60">
                <a:solidFill>
                  <a:srgbClr val="000AFF"/>
                </a:solidFill>
                <a:latin typeface="JetBrains Mono"/>
              </a:rPr>
              <a:t>Who it serves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42032"/>
            <a:ext cx="3200400" cy="11430"/>
          </a:xfrm>
          <a:prstGeom prst="rect">
            <a:avLst/>
          </a:prstGeom>
          <a:solidFill>
            <a:srgbClr val="DDD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61488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Social protection agencies screening high volumes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19856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Caseworkers who must sign off on each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7822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Auditors who need a verifiable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21284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60">
                <a:solidFill>
                  <a:srgbClr val="000AFF"/>
                </a:solidFill>
                <a:latin typeface="JetBrains Mono"/>
              </a:rPr>
              <a:t>What is proven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2542032"/>
            <a:ext cx="3200400" cy="11430"/>
          </a:xfrm>
          <a:prstGeom prst="rect">
            <a:avLst/>
          </a:prstGeom>
          <a:solidFill>
            <a:srgbClr val="DDD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2761488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Seven clauses, deterministic and traceable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3419856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Grounded extraction with abstention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407822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Enforced human gate and hash-chained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4736592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Quality gate in the running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221284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60">
                <a:solidFill>
                  <a:srgbClr val="000AFF"/>
                </a:solidFill>
                <a:latin typeface="JetBrains Mono"/>
              </a:rPr>
              <a:t>Next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2712" y="2542032"/>
            <a:ext cx="3200400" cy="11430"/>
          </a:xfrm>
          <a:prstGeom prst="rect">
            <a:avLst/>
          </a:prstGeom>
          <a:solidFill>
            <a:srgbClr val="DDD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2761488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Configurable policy per 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3419856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Durable ledger across deployments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407822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Officer identity and role separation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4736592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Instrument Sans"/>
              </a:rPr>
              <a:t>Exportable decision packs for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04688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C8E0E4"/>
          </a:solidFill>
          <a:ln w="9525">
            <a:solidFill>
              <a:srgbClr val="A9C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000AF"/>
                </a:solidFill>
                <a:latin typeface="Instrument Sans"/>
              </a:rPr>
              <a:t>The design claim is modest and testable: the machine may propose, a check may refuse, and only a named person may decide.</a:t>
            </a:r>
          </a:p>
        </p:txBody>
      </p:sp>
      <p:sp>
        <p:nvSpPr>
          <p:cNvPr id="24" name="4-Point Star 23"/>
          <p:cNvSpPr/>
          <p:nvPr/>
        </p:nvSpPr>
        <p:spPr>
          <a:xfrm rot="720000">
            <a:off x="11430000" y="1298448"/>
            <a:ext cx="118872" cy="118872"/>
          </a:xfrm>
          <a:prstGeom prst="star4">
            <a:avLst/>
          </a:prstGeom>
          <a:solidFill>
            <a:alpha val="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4-Point Star 24"/>
          <p:cNvSpPr/>
          <p:nvPr/>
        </p:nvSpPr>
        <p:spPr>
          <a:xfrm>
            <a:off x="11064240" y="1572768"/>
            <a:ext cx="73152" cy="73152"/>
          </a:xfrm>
          <a:prstGeom prst="star4">
            <a:avLst/>
          </a:prstGeom>
          <a:solidFill>
            <a:alpha val="2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Glue Sticks  |  Witness  |  Agentika 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A948A"/>
                </a:solidFill>
                <a:latin typeface="JetBrains Mono"/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355080"/>
            <a:ext cx="10637215" cy="9525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 rot="600000">
            <a:off x="658368" y="658368"/>
            <a:ext cx="182880" cy="182880"/>
          </a:xfrm>
          <a:prstGeom prst="star4">
            <a:avLst/>
          </a:prstGeom>
          <a:solidFill>
            <a:alpha val="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078992" y="969264"/>
            <a:ext cx="100584" cy="100584"/>
          </a:xfrm>
          <a:prstGeom prst="star4">
            <a:avLst/>
          </a:prstGeom>
          <a:solidFill>
            <a:alpha val="2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 rot="1080000">
            <a:off x="10881360" y="960120"/>
            <a:ext cx="146304" cy="146304"/>
          </a:xfrm>
          <a:prstGeom prst="star4">
            <a:avLst/>
          </a:prstGeom>
          <a:solidFill>
            <a:alpha val="3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11356848" y="1316736"/>
            <a:ext cx="82296" cy="82296"/>
          </a:xfrm>
          <a:prstGeom prst="star4">
            <a:avLst/>
          </a:prstGeom>
          <a:solidFill>
            <a:alpha val="2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822960" y="4480560"/>
            <a:ext cx="2377440" cy="2377440"/>
          </a:xfrm>
          <a:prstGeom prst="ellipse">
            <a:avLst/>
          </a:prstGeom>
          <a:noFill/>
          <a:ln w="16510">
            <a:solidFill>
              <a:srgbClr val="FFC7AA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FFC7AA"/>
                </a:solidFill>
                <a:latin typeface="JetBrains Mono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 i="0">
                <a:solidFill>
                  <a:srgbClr val="F9F5EE"/>
                </a:solidFill>
                <a:latin typeface="Instrument Sans"/>
              </a:rPr>
              <a:t>Witness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solidFill>
                  <a:srgbClr val="FFC7AA"/>
                </a:solidFill>
                <a:latin typeface="Instrument Serif"/>
              </a:rPr>
              <a:t>AI proposes. A check audits. A human decides.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20440"/>
            <a:ext cx="1280160" cy="254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BFBBEE"/>
                </a:solidFill>
                <a:latin typeface="JetBrains Mono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8678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9F5EE"/>
                </a:solidFill>
                <a:latin typeface="JetBrains Mono"/>
              </a:rPr>
              <a:t>alternate-echo-whale-5578-github-app.alternatefutures.ai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6227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BFBBEE"/>
                </a:solidFill>
                <a:latin typeface="JetBrains Mono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8172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9F5EE"/>
                </a:solidFill>
                <a:latin typeface="JetBrains Mono"/>
              </a:rPr>
              <a:t>github.com/anithepani/GlueSticks-agentika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9867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9F5EE"/>
                </a:solidFill>
                <a:latin typeface="JetBrains Mono"/>
              </a:rPr>
              <a:t>Glue Sticks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611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D5D2F4"/>
                </a:solidFill>
                <a:latin typeface="JetBrains Mono"/>
              </a:rPr>
              <a:t>Aryan Zia</a:t>
            </a:r>
          </a:p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D5D2F4"/>
                </a:solidFill>
                <a:latin typeface="JetBrains Mono"/>
              </a:rPr>
              <a:t>Muhammad Rubait Zakria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52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A9A4E4"/>
                </a:solidFill>
                <a:latin typeface="JetBrains Mono"/>
              </a:rPr>
              <a:t>Agentika 2.0  ·  NaSCon 2026  ·  FAST NUCES Islamabad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Witness - Agentika 2.0 finalist deck</dc:title>
  <dc:subject>Human-in-the-loop decision desk</dc:subject>
  <dc:creator>Glue Sticks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